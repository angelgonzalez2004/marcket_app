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446551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3391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029097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5379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08809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995951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86649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MX"/>
              <a:t>Haz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770905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404735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59982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11363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00881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79159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MX"/>
              <a:t>Haz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MX"/>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091700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117615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9274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9/24/2025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96415801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5389" y="1160864"/>
            <a:ext cx="5826719" cy="1646302"/>
          </a:xfrm>
        </p:spPr>
        <p:txBody>
          <a:bodyPr/>
          <a:lstStyle/>
          <a:p>
            <a:r>
              <a:rPr dirty="0"/>
              <a:t>Business Model Canvas</a:t>
            </a:r>
          </a:p>
        </p:txBody>
      </p:sp>
      <p:sp>
        <p:nvSpPr>
          <p:cNvPr id="3" name="Subtitle 2"/>
          <p:cNvSpPr>
            <a:spLocks noGrp="1"/>
          </p:cNvSpPr>
          <p:nvPr>
            <p:ph type="subTitle" idx="1"/>
          </p:nvPr>
        </p:nvSpPr>
        <p:spPr>
          <a:xfrm>
            <a:off x="1325467" y="2807166"/>
            <a:ext cx="5826719" cy="1096899"/>
          </a:xfrm>
        </p:spPr>
        <p:txBody>
          <a:bodyPr>
            <a:normAutofit lnSpcReduction="10000"/>
          </a:bodyPr>
          <a:lstStyle/>
          <a:p>
            <a:r>
              <a:rPr dirty="0"/>
              <a:t>Idea de </a:t>
            </a:r>
            <a:r>
              <a:rPr dirty="0" err="1"/>
              <a:t>Negocio</a:t>
            </a:r>
            <a:r>
              <a:rPr dirty="0"/>
              <a:t> y </a:t>
            </a:r>
            <a:r>
              <a:rPr dirty="0" err="1"/>
              <a:t>Modelo</a:t>
            </a:r>
            <a:r>
              <a:rPr dirty="0"/>
              <a:t> de </a:t>
            </a:r>
            <a:r>
              <a:rPr dirty="0" err="1"/>
              <a:t>Negocio</a:t>
            </a:r>
            <a:endParaRPr lang="es-MX" dirty="0"/>
          </a:p>
          <a:p>
            <a:r>
              <a:rPr lang="es-MX" dirty="0"/>
              <a:t>Sari Dariana Cob Jiménez</a:t>
            </a:r>
          </a:p>
          <a:p>
            <a:r>
              <a:rPr lang="es-MX" dirty="0"/>
              <a:t>Grupo:10A</a:t>
            </a:r>
            <a:endParaRPr dirty="0"/>
          </a:p>
        </p:txBody>
      </p:sp>
      <p:pic>
        <p:nvPicPr>
          <p:cNvPr id="1026" name="Picture 2" descr="Business model canvas with labeled empty blank sheet page outline diagram. Educational template scheme with business strategy planning or writing company key partners and customers vector illustration. Business model canvas vectors">
            <a:extLst>
              <a:ext uri="{FF2B5EF4-FFF2-40B4-BE49-F238E27FC236}">
                <a16:creationId xmlns:a16="http://schemas.microsoft.com/office/drawing/2014/main" id="{AFB8CB14-830D-6F0E-4423-E42D1D2FB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476" y="3623753"/>
            <a:ext cx="3772524" cy="2640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Tema 1: Idea de Negocio</a:t>
            </a:r>
          </a:p>
        </p:txBody>
      </p:sp>
      <p:sp>
        <p:nvSpPr>
          <p:cNvPr id="3" name="Content Placeholder 2"/>
          <p:cNvSpPr>
            <a:spLocks noGrp="1"/>
          </p:cNvSpPr>
          <p:nvPr>
            <p:ph idx="1"/>
          </p:nvPr>
        </p:nvSpPr>
        <p:spPr>
          <a:xfrm>
            <a:off x="279815" y="1421159"/>
            <a:ext cx="8254586" cy="3880773"/>
          </a:xfrm>
        </p:spPr>
        <p:txBody>
          <a:bodyPr>
            <a:normAutofit/>
          </a:bodyPr>
          <a:lstStyle/>
          <a:p>
            <a:r>
              <a:rPr dirty="0"/>
              <a:t>La idea de </a:t>
            </a:r>
            <a:r>
              <a:rPr dirty="0" err="1"/>
              <a:t>negocio</a:t>
            </a:r>
            <a:r>
              <a:rPr dirty="0"/>
              <a:t> es </a:t>
            </a:r>
            <a:r>
              <a:rPr dirty="0" err="1"/>
              <a:t>el</a:t>
            </a:r>
            <a:r>
              <a:rPr dirty="0"/>
              <a:t> </a:t>
            </a:r>
            <a:r>
              <a:rPr dirty="0" err="1"/>
              <a:t>concepto</a:t>
            </a:r>
            <a:r>
              <a:rPr dirty="0"/>
              <a:t> </a:t>
            </a:r>
            <a:r>
              <a:rPr dirty="0" err="1"/>
              <a:t>inicial</a:t>
            </a:r>
            <a:r>
              <a:rPr dirty="0"/>
              <a:t> que da </a:t>
            </a:r>
            <a:r>
              <a:rPr dirty="0" err="1"/>
              <a:t>origen</a:t>
            </a:r>
            <a:r>
              <a:rPr dirty="0"/>
              <a:t> a </a:t>
            </a:r>
            <a:r>
              <a:rPr dirty="0" err="1"/>
              <a:t>una</a:t>
            </a:r>
            <a:r>
              <a:rPr dirty="0"/>
              <a:t> </a:t>
            </a:r>
            <a:r>
              <a:rPr dirty="0" err="1"/>
              <a:t>empresa</a:t>
            </a:r>
            <a:r>
              <a:rPr dirty="0"/>
              <a:t>.</a:t>
            </a:r>
          </a:p>
          <a:p>
            <a:endParaRPr dirty="0"/>
          </a:p>
          <a:p>
            <a:r>
              <a:rPr dirty="0"/>
              <a:t>• Surge al </a:t>
            </a:r>
            <a:r>
              <a:rPr dirty="0" err="1"/>
              <a:t>identificar</a:t>
            </a:r>
            <a:r>
              <a:rPr dirty="0"/>
              <a:t> un </a:t>
            </a:r>
            <a:r>
              <a:rPr dirty="0" err="1"/>
              <a:t>problema</a:t>
            </a:r>
            <a:r>
              <a:rPr dirty="0"/>
              <a:t>, </a:t>
            </a:r>
            <a:r>
              <a:rPr dirty="0" err="1"/>
              <a:t>necesidad</a:t>
            </a:r>
            <a:r>
              <a:rPr dirty="0"/>
              <a:t> o </a:t>
            </a:r>
            <a:r>
              <a:rPr dirty="0" err="1"/>
              <a:t>deseo</a:t>
            </a:r>
            <a:r>
              <a:rPr dirty="0"/>
              <a:t> </a:t>
            </a:r>
            <a:r>
              <a:rPr dirty="0" err="1"/>
              <a:t>en</a:t>
            </a:r>
            <a:r>
              <a:rPr dirty="0"/>
              <a:t> </a:t>
            </a:r>
            <a:r>
              <a:rPr dirty="0" err="1"/>
              <a:t>el</a:t>
            </a:r>
            <a:r>
              <a:rPr dirty="0"/>
              <a:t> mercado.</a:t>
            </a:r>
          </a:p>
          <a:p>
            <a:r>
              <a:rPr dirty="0"/>
              <a:t>• Propone </a:t>
            </a:r>
            <a:r>
              <a:rPr dirty="0" err="1"/>
              <a:t>una</a:t>
            </a:r>
            <a:r>
              <a:rPr dirty="0"/>
              <a:t> </a:t>
            </a:r>
            <a:r>
              <a:rPr dirty="0" err="1"/>
              <a:t>solución</a:t>
            </a:r>
            <a:r>
              <a:rPr dirty="0"/>
              <a:t> rentable y </a:t>
            </a:r>
            <a:r>
              <a:rPr dirty="0" err="1"/>
              <a:t>sostenible</a:t>
            </a:r>
            <a:r>
              <a:rPr dirty="0"/>
              <a:t>.</a:t>
            </a:r>
          </a:p>
          <a:p>
            <a:r>
              <a:rPr dirty="0"/>
              <a:t>• Puede ser un </a:t>
            </a:r>
            <a:r>
              <a:rPr dirty="0" err="1"/>
              <a:t>producto</a:t>
            </a:r>
            <a:r>
              <a:rPr dirty="0"/>
              <a:t>, </a:t>
            </a:r>
            <a:r>
              <a:rPr dirty="0" err="1"/>
              <a:t>servicio</a:t>
            </a:r>
            <a:r>
              <a:rPr dirty="0"/>
              <a:t> o </a:t>
            </a:r>
            <a:r>
              <a:rPr dirty="0" err="1"/>
              <a:t>modelo</a:t>
            </a:r>
            <a:r>
              <a:rPr dirty="0"/>
              <a:t> </a:t>
            </a:r>
            <a:r>
              <a:rPr dirty="0" err="1"/>
              <a:t>innovador</a:t>
            </a:r>
            <a:r>
              <a:rPr dirty="0"/>
              <a:t>.</a:t>
            </a:r>
          </a:p>
          <a:p>
            <a:r>
              <a:rPr dirty="0"/>
              <a:t>• Debe </a:t>
            </a:r>
            <a:r>
              <a:rPr dirty="0" err="1"/>
              <a:t>considerar</a:t>
            </a:r>
            <a:r>
              <a:rPr dirty="0"/>
              <a:t> al </a:t>
            </a:r>
            <a:r>
              <a:rPr dirty="0" err="1"/>
              <a:t>cliente</a:t>
            </a:r>
            <a:r>
              <a:rPr dirty="0"/>
              <a:t> </a:t>
            </a:r>
            <a:r>
              <a:rPr dirty="0" err="1"/>
              <a:t>objetivo</a:t>
            </a:r>
            <a:r>
              <a:rPr dirty="0"/>
              <a:t> y las </a:t>
            </a:r>
            <a:r>
              <a:rPr dirty="0" err="1"/>
              <a:t>condiciones</a:t>
            </a:r>
            <a:r>
              <a:rPr dirty="0"/>
              <a:t> del mercado.</a:t>
            </a:r>
          </a:p>
          <a:p>
            <a:endParaRPr dirty="0"/>
          </a:p>
          <a:p>
            <a:r>
              <a:rPr dirty="0" err="1"/>
              <a:t>Ejemplo</a:t>
            </a:r>
            <a:r>
              <a:rPr dirty="0"/>
              <a:t>: </a:t>
            </a:r>
            <a:r>
              <a:rPr dirty="0" err="1"/>
              <a:t>Servicio</a:t>
            </a:r>
            <a:r>
              <a:rPr dirty="0"/>
              <a:t> de </a:t>
            </a:r>
            <a:r>
              <a:rPr dirty="0" err="1"/>
              <a:t>bicicletas</a:t>
            </a:r>
            <a:r>
              <a:rPr dirty="0"/>
              <a:t> </a:t>
            </a:r>
            <a:r>
              <a:rPr dirty="0" err="1"/>
              <a:t>eléctricas</a:t>
            </a:r>
            <a:r>
              <a:rPr dirty="0"/>
              <a:t> </a:t>
            </a:r>
            <a:r>
              <a:rPr dirty="0" err="1"/>
              <a:t>compartidas</a:t>
            </a:r>
            <a:r>
              <a:rPr dirty="0"/>
              <a:t> para </a:t>
            </a:r>
            <a:r>
              <a:rPr dirty="0" err="1"/>
              <a:t>una</a:t>
            </a:r>
            <a:r>
              <a:rPr dirty="0"/>
              <a:t> </a:t>
            </a:r>
            <a:r>
              <a:rPr dirty="0" err="1"/>
              <a:t>movilidad</a:t>
            </a:r>
            <a:r>
              <a:rPr dirty="0"/>
              <a:t> </a:t>
            </a:r>
            <a:r>
              <a:rPr dirty="0" err="1"/>
              <a:t>ecológica</a:t>
            </a:r>
            <a:r>
              <a:rPr dirty="0"/>
              <a:t>.</a:t>
            </a:r>
          </a:p>
        </p:txBody>
      </p:sp>
      <p:pic>
        <p:nvPicPr>
          <p:cNvPr id="4098" name="Picture 2" descr="Vista Superior Idea Negocio Inscripción Cerca Ilustración Bolas Papel Arrugado — Foto de Stock">
            <a:extLst>
              <a:ext uri="{FF2B5EF4-FFF2-40B4-BE49-F238E27FC236}">
                <a16:creationId xmlns:a16="http://schemas.microsoft.com/office/drawing/2014/main" id="{75CE47BD-F150-0857-449E-9617FA9AA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968" y="4807680"/>
            <a:ext cx="2666063" cy="17755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Propuesta de Valor</a:t>
            </a:r>
          </a:p>
        </p:txBody>
      </p:sp>
      <p:sp>
        <p:nvSpPr>
          <p:cNvPr id="3" name="Content Placeholder 2"/>
          <p:cNvSpPr>
            <a:spLocks noGrp="1"/>
          </p:cNvSpPr>
          <p:nvPr>
            <p:ph idx="1"/>
          </p:nvPr>
        </p:nvSpPr>
        <p:spPr>
          <a:xfrm>
            <a:off x="609597" y="1800826"/>
            <a:ext cx="7924803" cy="3880773"/>
          </a:xfrm>
        </p:spPr>
        <p:txBody>
          <a:bodyPr>
            <a:normAutofit/>
          </a:bodyPr>
          <a:lstStyle/>
          <a:p>
            <a:r>
              <a:rPr dirty="0"/>
              <a:t>La </a:t>
            </a:r>
            <a:r>
              <a:rPr dirty="0" err="1"/>
              <a:t>propuesta</a:t>
            </a:r>
            <a:r>
              <a:rPr dirty="0"/>
              <a:t> de valor es </a:t>
            </a:r>
            <a:r>
              <a:rPr dirty="0" err="1"/>
              <a:t>el</a:t>
            </a:r>
            <a:r>
              <a:rPr dirty="0"/>
              <a:t> </a:t>
            </a:r>
            <a:r>
              <a:rPr dirty="0" err="1"/>
              <a:t>corazón</a:t>
            </a:r>
            <a:r>
              <a:rPr dirty="0"/>
              <a:t> de la idea de </a:t>
            </a:r>
            <a:r>
              <a:rPr dirty="0" err="1"/>
              <a:t>negocio</a:t>
            </a:r>
            <a:r>
              <a:rPr dirty="0"/>
              <a:t>.</a:t>
            </a:r>
          </a:p>
          <a:p>
            <a:endParaRPr dirty="0"/>
          </a:p>
          <a:p>
            <a:r>
              <a:rPr dirty="0"/>
              <a:t>• </a:t>
            </a:r>
            <a:r>
              <a:rPr dirty="0" err="1"/>
              <a:t>Responde</a:t>
            </a:r>
            <a:r>
              <a:rPr dirty="0"/>
              <a:t> a: ¿Por </a:t>
            </a:r>
            <a:r>
              <a:rPr dirty="0" err="1"/>
              <a:t>qué</a:t>
            </a:r>
            <a:r>
              <a:rPr dirty="0"/>
              <a:t> </a:t>
            </a:r>
            <a:r>
              <a:rPr dirty="0" err="1"/>
              <a:t>los</a:t>
            </a:r>
            <a:r>
              <a:rPr dirty="0"/>
              <a:t> </a:t>
            </a:r>
            <a:r>
              <a:rPr dirty="0" err="1"/>
              <a:t>clientes</a:t>
            </a:r>
            <a:r>
              <a:rPr dirty="0"/>
              <a:t> </a:t>
            </a:r>
            <a:r>
              <a:rPr dirty="0" err="1"/>
              <a:t>elegirían</a:t>
            </a:r>
            <a:r>
              <a:rPr dirty="0"/>
              <a:t> mi </a:t>
            </a:r>
            <a:r>
              <a:rPr dirty="0" err="1"/>
              <a:t>producto</a:t>
            </a:r>
            <a:r>
              <a:rPr dirty="0"/>
              <a:t>/</a:t>
            </a:r>
            <a:r>
              <a:rPr dirty="0" err="1"/>
              <a:t>servicio</a:t>
            </a:r>
            <a:r>
              <a:rPr dirty="0"/>
              <a:t>?</a:t>
            </a:r>
          </a:p>
          <a:p>
            <a:r>
              <a:rPr dirty="0"/>
              <a:t>• </a:t>
            </a:r>
            <a:r>
              <a:rPr dirty="0" err="1"/>
              <a:t>Soluciona</a:t>
            </a:r>
            <a:r>
              <a:rPr dirty="0"/>
              <a:t> un </a:t>
            </a:r>
            <a:r>
              <a:rPr dirty="0" err="1"/>
              <a:t>problema</a:t>
            </a:r>
            <a:r>
              <a:rPr dirty="0"/>
              <a:t> o </a:t>
            </a:r>
            <a:r>
              <a:rPr dirty="0" err="1"/>
              <a:t>satisface</a:t>
            </a:r>
            <a:r>
              <a:rPr dirty="0"/>
              <a:t> </a:t>
            </a:r>
            <a:r>
              <a:rPr dirty="0" err="1"/>
              <a:t>una</a:t>
            </a:r>
            <a:r>
              <a:rPr dirty="0"/>
              <a:t> </a:t>
            </a:r>
            <a:r>
              <a:rPr dirty="0" err="1"/>
              <a:t>necesidad</a:t>
            </a:r>
            <a:r>
              <a:rPr dirty="0"/>
              <a:t>.</a:t>
            </a:r>
          </a:p>
          <a:p>
            <a:r>
              <a:rPr dirty="0"/>
              <a:t>• </a:t>
            </a:r>
            <a:r>
              <a:rPr dirty="0" err="1"/>
              <a:t>Ofrece</a:t>
            </a:r>
            <a:r>
              <a:rPr dirty="0"/>
              <a:t> </a:t>
            </a:r>
            <a:r>
              <a:rPr dirty="0" err="1"/>
              <a:t>beneficios</a:t>
            </a:r>
            <a:r>
              <a:rPr dirty="0"/>
              <a:t> </a:t>
            </a:r>
            <a:r>
              <a:rPr dirty="0" err="1"/>
              <a:t>únicos</a:t>
            </a:r>
            <a:r>
              <a:rPr dirty="0"/>
              <a:t>: </a:t>
            </a:r>
            <a:r>
              <a:rPr dirty="0" err="1"/>
              <a:t>precio</a:t>
            </a:r>
            <a:r>
              <a:rPr dirty="0"/>
              <a:t>, </a:t>
            </a:r>
            <a:r>
              <a:rPr dirty="0" err="1"/>
              <a:t>calidad</a:t>
            </a:r>
            <a:r>
              <a:rPr dirty="0"/>
              <a:t>, </a:t>
            </a:r>
            <a:r>
              <a:rPr dirty="0" err="1"/>
              <a:t>innovación</a:t>
            </a:r>
            <a:r>
              <a:rPr dirty="0"/>
              <a:t>, </a:t>
            </a:r>
            <a:r>
              <a:rPr dirty="0" err="1"/>
              <a:t>rapidez</a:t>
            </a:r>
            <a:r>
              <a:rPr dirty="0"/>
              <a:t>, </a:t>
            </a:r>
            <a:r>
              <a:rPr dirty="0" err="1"/>
              <a:t>sostenibilidad</a:t>
            </a:r>
            <a:r>
              <a:rPr dirty="0"/>
              <a:t>.</a:t>
            </a:r>
          </a:p>
          <a:p>
            <a:r>
              <a:rPr dirty="0"/>
              <a:t>• </a:t>
            </a:r>
            <a:r>
              <a:rPr dirty="0" err="1"/>
              <a:t>Diferencia</a:t>
            </a:r>
            <a:r>
              <a:rPr dirty="0"/>
              <a:t> a la </a:t>
            </a:r>
            <a:r>
              <a:rPr dirty="0" err="1"/>
              <a:t>empresa</a:t>
            </a:r>
            <a:r>
              <a:rPr dirty="0"/>
              <a:t> de la </a:t>
            </a:r>
            <a:r>
              <a:rPr dirty="0" err="1"/>
              <a:t>competencia</a:t>
            </a:r>
            <a:r>
              <a:rPr dirty="0"/>
              <a:t>.</a:t>
            </a:r>
          </a:p>
          <a:p>
            <a:endParaRPr dirty="0"/>
          </a:p>
          <a:p>
            <a:r>
              <a:rPr dirty="0" err="1"/>
              <a:t>Ejemplo</a:t>
            </a:r>
            <a:r>
              <a:rPr dirty="0"/>
              <a:t>: Transporte </a:t>
            </a:r>
            <a:r>
              <a:rPr dirty="0" err="1"/>
              <a:t>económico</a:t>
            </a:r>
            <a:r>
              <a:rPr dirty="0"/>
              <a:t> y </a:t>
            </a:r>
            <a:r>
              <a:rPr dirty="0" err="1"/>
              <a:t>ecológico</a:t>
            </a:r>
            <a:r>
              <a:rPr dirty="0"/>
              <a:t> con </a:t>
            </a:r>
            <a:r>
              <a:rPr dirty="0" err="1"/>
              <a:t>bicicletas</a:t>
            </a:r>
            <a:r>
              <a:rPr dirty="0"/>
              <a:t> </a:t>
            </a:r>
            <a:r>
              <a:rPr dirty="0" err="1"/>
              <a:t>eléctricas</a:t>
            </a:r>
            <a:r>
              <a:rPr dirty="0"/>
              <a:t> </a:t>
            </a:r>
            <a:r>
              <a:rPr dirty="0" err="1"/>
              <a:t>disponibles</a:t>
            </a:r>
            <a:r>
              <a:rPr dirty="0"/>
              <a:t> </a:t>
            </a:r>
            <a:r>
              <a:rPr dirty="0" err="1"/>
              <a:t>en</a:t>
            </a:r>
            <a:r>
              <a:rPr dirty="0"/>
              <a:t> puntos </a:t>
            </a:r>
            <a:r>
              <a:rPr dirty="0" err="1"/>
              <a:t>estratégicos</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40054"/>
            <a:ext cx="6347713" cy="1320800"/>
          </a:xfrm>
        </p:spPr>
        <p:txBody>
          <a:bodyPr/>
          <a:lstStyle/>
          <a:p>
            <a:r>
              <a:rPr dirty="0"/>
              <a:t>Tema 2: </a:t>
            </a:r>
            <a:r>
              <a:rPr dirty="0" err="1"/>
              <a:t>Modelo</a:t>
            </a:r>
            <a:r>
              <a:rPr dirty="0"/>
              <a:t> de Negocio</a:t>
            </a:r>
          </a:p>
        </p:txBody>
      </p:sp>
      <p:sp>
        <p:nvSpPr>
          <p:cNvPr id="3" name="Content Placeholder 2"/>
          <p:cNvSpPr>
            <a:spLocks noGrp="1"/>
          </p:cNvSpPr>
          <p:nvPr>
            <p:ph idx="1"/>
          </p:nvPr>
        </p:nvSpPr>
        <p:spPr>
          <a:xfrm>
            <a:off x="269823" y="1164389"/>
            <a:ext cx="8264578" cy="3880773"/>
          </a:xfrm>
        </p:spPr>
        <p:txBody>
          <a:bodyPr/>
          <a:lstStyle/>
          <a:p>
            <a:r>
              <a:rPr lang="es-MX" dirty="0"/>
              <a:t>El modelo de negocio describe la forma en que una empresa crea, entrega y captura valor.</a:t>
            </a:r>
          </a:p>
          <a:p>
            <a:endParaRPr lang="es-MX" dirty="0"/>
          </a:p>
          <a:p>
            <a:r>
              <a:rPr lang="es-MX" dirty="0"/>
              <a:t>Características:</a:t>
            </a:r>
          </a:p>
          <a:p>
            <a:r>
              <a:rPr lang="es-MX" dirty="0"/>
              <a:t>• Sencillo y visual.</a:t>
            </a:r>
          </a:p>
          <a:p>
            <a:r>
              <a:rPr lang="es-MX" dirty="0"/>
              <a:t>• Integral, une todas las áreas de la empresa.</a:t>
            </a:r>
          </a:p>
          <a:p>
            <a:r>
              <a:rPr lang="es-MX" dirty="0"/>
              <a:t>• Flexible y adaptable al mercado.</a:t>
            </a:r>
          </a:p>
          <a:p>
            <a:r>
              <a:rPr lang="es-MX" dirty="0"/>
              <a:t>• Práctico para diseñar y mejorar el negocio.</a:t>
            </a:r>
          </a:p>
        </p:txBody>
      </p:sp>
      <p:pic>
        <p:nvPicPr>
          <p:cNvPr id="3074" name="Picture 2" descr="use xmind to build business model canvas">
            <a:extLst>
              <a:ext uri="{FF2B5EF4-FFF2-40B4-BE49-F238E27FC236}">
                <a16:creationId xmlns:a16="http://schemas.microsoft.com/office/drawing/2014/main" id="{BEE48498-D85E-B4EE-4F5E-15DC79BE9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922" y="4401557"/>
            <a:ext cx="4660380" cy="22163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Componentes</a:t>
            </a:r>
            <a:r>
              <a:rPr dirty="0"/>
              <a:t> del Business Model Canvas</a:t>
            </a:r>
          </a:p>
        </p:txBody>
      </p:sp>
      <p:sp>
        <p:nvSpPr>
          <p:cNvPr id="3" name="Content Placeholder 2"/>
          <p:cNvSpPr>
            <a:spLocks noGrp="1"/>
          </p:cNvSpPr>
          <p:nvPr>
            <p:ph idx="1"/>
          </p:nvPr>
        </p:nvSpPr>
        <p:spPr>
          <a:xfrm>
            <a:off x="389744" y="2160590"/>
            <a:ext cx="7060367" cy="3880773"/>
          </a:xfrm>
        </p:spPr>
        <p:txBody>
          <a:bodyPr>
            <a:normAutofit fontScale="92500" lnSpcReduction="20000"/>
          </a:bodyPr>
          <a:lstStyle/>
          <a:p>
            <a:r>
              <a:rPr dirty="0"/>
              <a:t>El BMC se </a:t>
            </a:r>
            <a:r>
              <a:rPr dirty="0" err="1"/>
              <a:t>compone</a:t>
            </a:r>
            <a:r>
              <a:rPr dirty="0"/>
              <a:t> de 9 </a:t>
            </a:r>
            <a:r>
              <a:rPr dirty="0" err="1"/>
              <a:t>bloques</a:t>
            </a:r>
            <a:r>
              <a:rPr dirty="0"/>
              <a:t>:</a:t>
            </a:r>
          </a:p>
          <a:p>
            <a:endParaRPr dirty="0"/>
          </a:p>
          <a:p>
            <a:r>
              <a:rPr dirty="0"/>
              <a:t>1. </a:t>
            </a:r>
            <a:r>
              <a:rPr dirty="0" err="1"/>
              <a:t>Segmentos</a:t>
            </a:r>
            <a:r>
              <a:rPr dirty="0"/>
              <a:t> de </a:t>
            </a:r>
            <a:r>
              <a:rPr dirty="0" err="1"/>
              <a:t>clientes</a:t>
            </a:r>
            <a:r>
              <a:rPr dirty="0"/>
              <a:t> → Público </a:t>
            </a:r>
            <a:r>
              <a:rPr dirty="0" err="1"/>
              <a:t>objetivo</a:t>
            </a:r>
            <a:r>
              <a:rPr dirty="0"/>
              <a:t>.</a:t>
            </a:r>
          </a:p>
          <a:p>
            <a:r>
              <a:rPr dirty="0"/>
              <a:t>2. </a:t>
            </a:r>
            <a:r>
              <a:rPr dirty="0" err="1"/>
              <a:t>Propuesta</a:t>
            </a:r>
            <a:r>
              <a:rPr dirty="0"/>
              <a:t> de valor → </a:t>
            </a:r>
            <a:r>
              <a:rPr dirty="0" err="1"/>
              <a:t>Beneficio</a:t>
            </a:r>
            <a:r>
              <a:rPr dirty="0"/>
              <a:t> </a:t>
            </a:r>
            <a:r>
              <a:rPr dirty="0" err="1"/>
              <a:t>único</a:t>
            </a:r>
            <a:r>
              <a:rPr dirty="0"/>
              <a:t> </a:t>
            </a:r>
            <a:r>
              <a:rPr dirty="0" err="1"/>
              <a:t>ofrecido</a:t>
            </a:r>
            <a:r>
              <a:rPr dirty="0"/>
              <a:t>.</a:t>
            </a:r>
          </a:p>
          <a:p>
            <a:r>
              <a:rPr dirty="0"/>
              <a:t>3. Canales → Formas de </a:t>
            </a:r>
            <a:r>
              <a:rPr dirty="0" err="1"/>
              <a:t>entrega</a:t>
            </a:r>
            <a:r>
              <a:rPr dirty="0"/>
              <a:t>.</a:t>
            </a:r>
          </a:p>
          <a:p>
            <a:r>
              <a:rPr dirty="0"/>
              <a:t>4. </a:t>
            </a:r>
            <a:r>
              <a:rPr dirty="0" err="1"/>
              <a:t>Relación</a:t>
            </a:r>
            <a:r>
              <a:rPr dirty="0"/>
              <a:t> con </a:t>
            </a:r>
            <a:r>
              <a:rPr dirty="0" err="1"/>
              <a:t>clientes</a:t>
            </a:r>
            <a:r>
              <a:rPr dirty="0"/>
              <a:t> → </a:t>
            </a:r>
            <a:r>
              <a:rPr dirty="0" err="1"/>
              <a:t>Cómo</a:t>
            </a:r>
            <a:r>
              <a:rPr dirty="0"/>
              <a:t> </a:t>
            </a:r>
            <a:r>
              <a:rPr dirty="0" err="1"/>
              <a:t>conectamos</a:t>
            </a:r>
            <a:r>
              <a:rPr dirty="0"/>
              <a:t> con </a:t>
            </a:r>
            <a:r>
              <a:rPr dirty="0" err="1"/>
              <a:t>ellos</a:t>
            </a:r>
            <a:r>
              <a:rPr dirty="0"/>
              <a:t>.</a:t>
            </a:r>
          </a:p>
          <a:p>
            <a:r>
              <a:rPr dirty="0"/>
              <a:t>5. Fuentes de </a:t>
            </a:r>
            <a:r>
              <a:rPr dirty="0" err="1"/>
              <a:t>ingresos</a:t>
            </a:r>
            <a:r>
              <a:rPr dirty="0"/>
              <a:t> → </a:t>
            </a:r>
            <a:r>
              <a:rPr dirty="0" err="1"/>
              <a:t>Cómo</a:t>
            </a:r>
            <a:r>
              <a:rPr dirty="0"/>
              <a:t> </a:t>
            </a:r>
            <a:r>
              <a:rPr dirty="0" err="1"/>
              <a:t>gana</a:t>
            </a:r>
            <a:r>
              <a:rPr dirty="0"/>
              <a:t> dinero la </a:t>
            </a:r>
            <a:r>
              <a:rPr dirty="0" err="1"/>
              <a:t>empresa</a:t>
            </a:r>
            <a:r>
              <a:rPr dirty="0"/>
              <a:t>.</a:t>
            </a:r>
          </a:p>
          <a:p>
            <a:r>
              <a:rPr dirty="0"/>
              <a:t>6. </a:t>
            </a:r>
            <a:r>
              <a:rPr dirty="0" err="1"/>
              <a:t>Recursos</a:t>
            </a:r>
            <a:r>
              <a:rPr dirty="0"/>
              <a:t> clave → Personal, </a:t>
            </a:r>
            <a:r>
              <a:rPr dirty="0" err="1"/>
              <a:t>tecnología</a:t>
            </a:r>
            <a:r>
              <a:rPr dirty="0"/>
              <a:t>, capital.</a:t>
            </a:r>
          </a:p>
          <a:p>
            <a:r>
              <a:rPr dirty="0"/>
              <a:t>7. </a:t>
            </a:r>
            <a:r>
              <a:rPr dirty="0" err="1"/>
              <a:t>Actividades</a:t>
            </a:r>
            <a:r>
              <a:rPr dirty="0"/>
              <a:t> clave → </a:t>
            </a:r>
            <a:r>
              <a:rPr dirty="0" err="1"/>
              <a:t>Acciones</a:t>
            </a:r>
            <a:r>
              <a:rPr dirty="0"/>
              <a:t> </a:t>
            </a:r>
            <a:r>
              <a:rPr dirty="0" err="1"/>
              <a:t>principales</a:t>
            </a:r>
            <a:r>
              <a:rPr dirty="0"/>
              <a:t>.</a:t>
            </a:r>
          </a:p>
          <a:p>
            <a:r>
              <a:rPr dirty="0"/>
              <a:t>8. </a:t>
            </a:r>
            <a:r>
              <a:rPr dirty="0" err="1"/>
              <a:t>Socios</a:t>
            </a:r>
            <a:r>
              <a:rPr dirty="0"/>
              <a:t> clave → </a:t>
            </a:r>
            <a:r>
              <a:rPr dirty="0" err="1"/>
              <a:t>Alianzas</a:t>
            </a:r>
            <a:r>
              <a:rPr dirty="0"/>
              <a:t> </a:t>
            </a:r>
            <a:r>
              <a:rPr dirty="0" err="1"/>
              <a:t>estratégicas</a:t>
            </a:r>
            <a:r>
              <a:rPr dirty="0"/>
              <a:t>.</a:t>
            </a:r>
          </a:p>
          <a:p>
            <a:r>
              <a:rPr dirty="0"/>
              <a:t>9. </a:t>
            </a:r>
            <a:r>
              <a:rPr dirty="0" err="1"/>
              <a:t>Estructura</a:t>
            </a:r>
            <a:r>
              <a:rPr dirty="0"/>
              <a:t> de </a:t>
            </a:r>
            <a:r>
              <a:rPr dirty="0" err="1"/>
              <a:t>costos</a:t>
            </a:r>
            <a:r>
              <a:rPr dirty="0"/>
              <a:t> → </a:t>
            </a:r>
            <a:r>
              <a:rPr dirty="0" err="1"/>
              <a:t>Gastos</a:t>
            </a:r>
            <a:r>
              <a:rPr dirty="0"/>
              <a:t> </a:t>
            </a:r>
            <a:r>
              <a:rPr dirty="0" err="1"/>
              <a:t>necesarios</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8143" y="609600"/>
            <a:ext cx="6347713" cy="1320800"/>
          </a:xfrm>
        </p:spPr>
        <p:txBody>
          <a:bodyPr/>
          <a:lstStyle/>
          <a:p>
            <a:r>
              <a:rPr dirty="0" err="1"/>
              <a:t>Conclusión</a:t>
            </a:r>
            <a:endParaRPr dirty="0"/>
          </a:p>
        </p:txBody>
      </p:sp>
      <p:sp>
        <p:nvSpPr>
          <p:cNvPr id="3" name="Content Placeholder 2"/>
          <p:cNvSpPr>
            <a:spLocks noGrp="1"/>
          </p:cNvSpPr>
          <p:nvPr>
            <p:ph idx="1"/>
          </p:nvPr>
        </p:nvSpPr>
        <p:spPr>
          <a:xfrm>
            <a:off x="609599" y="1930400"/>
            <a:ext cx="7889824" cy="3880773"/>
          </a:xfrm>
        </p:spPr>
        <p:txBody>
          <a:bodyPr/>
          <a:lstStyle/>
          <a:p>
            <a:r>
              <a:rPr dirty="0"/>
              <a:t>• La idea de </a:t>
            </a:r>
            <a:r>
              <a:rPr dirty="0" err="1"/>
              <a:t>negocio</a:t>
            </a:r>
            <a:r>
              <a:rPr dirty="0"/>
              <a:t> es </a:t>
            </a:r>
            <a:r>
              <a:rPr dirty="0" err="1"/>
              <a:t>el</a:t>
            </a:r>
            <a:r>
              <a:rPr dirty="0"/>
              <a:t> punto de </a:t>
            </a:r>
            <a:r>
              <a:rPr dirty="0" err="1"/>
              <a:t>partida</a:t>
            </a:r>
            <a:r>
              <a:rPr dirty="0"/>
              <a:t> de un </a:t>
            </a:r>
            <a:r>
              <a:rPr dirty="0" err="1"/>
              <a:t>proyecto</a:t>
            </a:r>
            <a:r>
              <a:rPr dirty="0"/>
              <a:t> </a:t>
            </a:r>
            <a:r>
              <a:rPr dirty="0" err="1"/>
              <a:t>empresarial</a:t>
            </a:r>
            <a:r>
              <a:rPr dirty="0"/>
              <a:t>.</a:t>
            </a:r>
          </a:p>
          <a:p>
            <a:r>
              <a:rPr dirty="0"/>
              <a:t>• La </a:t>
            </a:r>
            <a:r>
              <a:rPr dirty="0" err="1"/>
              <a:t>propuesta</a:t>
            </a:r>
            <a:r>
              <a:rPr dirty="0"/>
              <a:t> de valor es </a:t>
            </a:r>
            <a:r>
              <a:rPr dirty="0" err="1"/>
              <a:t>el</a:t>
            </a:r>
            <a:r>
              <a:rPr dirty="0"/>
              <a:t> factor </a:t>
            </a:r>
            <a:r>
              <a:rPr dirty="0" err="1"/>
              <a:t>diferenciador</a:t>
            </a:r>
            <a:r>
              <a:rPr dirty="0"/>
              <a:t> </a:t>
            </a:r>
            <a:r>
              <a:rPr dirty="0" err="1"/>
              <a:t>frente</a:t>
            </a:r>
            <a:r>
              <a:rPr dirty="0"/>
              <a:t> a la </a:t>
            </a:r>
            <a:r>
              <a:rPr dirty="0" err="1"/>
              <a:t>competencia</a:t>
            </a:r>
            <a:r>
              <a:rPr dirty="0"/>
              <a:t>.</a:t>
            </a:r>
          </a:p>
          <a:p>
            <a:r>
              <a:rPr dirty="0"/>
              <a:t>• El Business Model Canvas </a:t>
            </a:r>
            <a:r>
              <a:rPr dirty="0" err="1"/>
              <a:t>organiza</a:t>
            </a:r>
            <a:r>
              <a:rPr dirty="0"/>
              <a:t> </a:t>
            </a:r>
            <a:r>
              <a:rPr dirty="0" err="1"/>
              <a:t>en</a:t>
            </a:r>
            <a:r>
              <a:rPr dirty="0"/>
              <a:t> 9 </a:t>
            </a:r>
            <a:r>
              <a:rPr dirty="0" err="1"/>
              <a:t>bloques</a:t>
            </a:r>
            <a:r>
              <a:rPr dirty="0"/>
              <a:t> la </a:t>
            </a:r>
            <a:r>
              <a:rPr dirty="0" err="1"/>
              <a:t>lógica</a:t>
            </a:r>
            <a:r>
              <a:rPr dirty="0"/>
              <a:t> de </a:t>
            </a:r>
            <a:r>
              <a:rPr dirty="0" err="1"/>
              <a:t>cómo</a:t>
            </a:r>
            <a:r>
              <a:rPr dirty="0"/>
              <a:t> </a:t>
            </a:r>
            <a:r>
              <a:rPr dirty="0" err="1"/>
              <a:t>funciona</a:t>
            </a:r>
            <a:r>
              <a:rPr dirty="0"/>
              <a:t> </a:t>
            </a:r>
            <a:r>
              <a:rPr dirty="0" err="1"/>
              <a:t>una</a:t>
            </a:r>
            <a:r>
              <a:rPr dirty="0"/>
              <a:t> </a:t>
            </a:r>
            <a:r>
              <a:rPr dirty="0" err="1"/>
              <a:t>empresa</a:t>
            </a:r>
            <a:r>
              <a:rPr dirty="0"/>
              <a:t>.</a:t>
            </a:r>
          </a:p>
          <a:p>
            <a:endParaRPr dirty="0"/>
          </a:p>
          <a:p>
            <a:r>
              <a:rPr dirty="0"/>
              <a:t>Con </a:t>
            </a:r>
            <a:r>
              <a:rPr dirty="0" err="1"/>
              <a:t>estos</a:t>
            </a:r>
            <a:r>
              <a:rPr dirty="0"/>
              <a:t> </a:t>
            </a:r>
            <a:r>
              <a:rPr dirty="0" err="1"/>
              <a:t>elementos</a:t>
            </a:r>
            <a:r>
              <a:rPr dirty="0"/>
              <a:t>, se </a:t>
            </a:r>
            <a:r>
              <a:rPr dirty="0" err="1"/>
              <a:t>puede</a:t>
            </a:r>
            <a:r>
              <a:rPr dirty="0"/>
              <a:t> </a:t>
            </a:r>
            <a:r>
              <a:rPr dirty="0" err="1"/>
              <a:t>diseñar</a:t>
            </a:r>
            <a:r>
              <a:rPr dirty="0"/>
              <a:t> un </a:t>
            </a:r>
            <a:r>
              <a:rPr dirty="0" err="1"/>
              <a:t>negocio</a:t>
            </a:r>
            <a:r>
              <a:rPr dirty="0"/>
              <a:t> </a:t>
            </a:r>
            <a:r>
              <a:rPr dirty="0" err="1"/>
              <a:t>sólido</a:t>
            </a:r>
            <a:r>
              <a:rPr dirty="0"/>
              <a:t>, claro y adaptable a </a:t>
            </a:r>
            <a:r>
              <a:rPr dirty="0" err="1"/>
              <a:t>cambios</a:t>
            </a:r>
            <a:r>
              <a:rPr dirty="0"/>
              <a:t> del mercado.</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Faceta</Template>
  <TotalTime>10</TotalTime>
  <Words>396</Words>
  <Application>Microsoft Office PowerPoint</Application>
  <PresentationFormat>Presentación en pantalla (4:3)</PresentationFormat>
  <Paragraphs>48</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Trebuchet MS</vt:lpstr>
      <vt:lpstr>Wingdings 3</vt:lpstr>
      <vt:lpstr>Faceta</vt:lpstr>
      <vt:lpstr>Business Model Canvas</vt:lpstr>
      <vt:lpstr>Tema 1: Idea de Negocio</vt:lpstr>
      <vt:lpstr>Propuesta de Valor</vt:lpstr>
      <vt:lpstr>Tema 2: Modelo de Negocio</vt:lpstr>
      <vt:lpstr>Componentes del Business Model Canvas</vt:lpstr>
      <vt:lpstr>Conclusión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Angel Gonzalez</cp:lastModifiedBy>
  <cp:revision>4</cp:revision>
  <dcterms:created xsi:type="dcterms:W3CDTF">2013-01-27T09:14:16Z</dcterms:created>
  <dcterms:modified xsi:type="dcterms:W3CDTF">2025-09-24T16:31:03Z</dcterms:modified>
  <cp:category/>
</cp:coreProperties>
</file>